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0" y="274320"/>
            <a:ext cx="3200400" cy="3200400"/>
          </a:xfrm>
          <a:prstGeom prst="ellipse">
            <a:avLst/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35040" y="640080"/>
            <a:ext cx="2468880" cy="2468880"/>
          </a:xfrm>
          <a:prstGeom prst="ellipse">
            <a:avLst/>
          </a:prstGeom>
          <a:solidFill>
            <a:srgbClr val="1E3A5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2011680" cy="347472"/>
          </a:xfrm>
          <a:prstGeom prst="rect">
            <a:avLst>
              <a:gd name="adj" fmla="val 13158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MINI PROJECT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Explainable AI–Based
</a:t>
            </a:r>
            <a:pPr indent="0" marL="0">
              <a:buNone/>
            </a:pPr>
            <a:r>
              <a:rPr lang="en-US" sz="2800" dirty="0">
                <a:solidFill>
                  <a:srgbClr val="48CAE4"/>
                </a:solidFill>
              </a:rPr>
              <a:t>Analysis of Factors Influencing
</a:t>
            </a:r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Student Mental Health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1828800" cy="329184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74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Explainable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3474720"/>
            <a:ext cx="1828800" cy="329184"/>
          </a:xfrm>
          <a:prstGeom prst="rect">
            <a:avLst/>
          </a:prstGeom>
          <a:solidFill>
            <a:srgbClr val="48CAE4">
              <a:alpha val="3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3474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SHAP Analysis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80560" y="3474720"/>
            <a:ext cx="1828800" cy="329184"/>
          </a:xfrm>
          <a:prstGeom prst="rect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3474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1828800" cy="329184"/>
          </a:xfrm>
          <a:prstGeom prst="rect">
            <a:avLst/>
          </a:prstGeom>
          <a:solidFill>
            <a:srgbClr val="48CAE4">
              <a:alpha val="30000"/>
            </a:srgbClr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474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Mental Health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Sunil Rao R</a:t>
            </a:r>
            <a:pPr algn="ctr" indent="0" marL="0">
              <a:buNone/>
            </a:pPr>
            <a:r>
              <a:rPr lang="en-US" sz="1300" dirty="0">
                <a:solidFill>
                  <a:srgbClr val="8EABC4"/>
                </a:solidFill>
              </a:rPr>
              <a:t>  (Reg: 3592310051)   |   </a:t>
            </a:r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Kamalesh V</a:t>
            </a:r>
            <a:pPr algn="ctr" indent="0" marL="0">
              <a:buNone/>
            </a:pPr>
            <a:r>
              <a:rPr lang="en-US" sz="1300" dirty="0">
                <a:solidFill>
                  <a:srgbClr val="8EABC4"/>
                </a:solidFill>
              </a:rPr>
              <a:t>  (Reg: 3592310019)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3931920"/>
          </a:xfrm>
          <a:prstGeom prst="rect">
            <a:avLst/>
          </a:prstGeom>
          <a:solidFill>
            <a:srgbClr val="1A2F4A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834640" cy="73152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92024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Student mental health is deteriorating due to rising academic pressure, financial challenges, and lifestyle disruptions. Traditional ML models lack transparency.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777240"/>
            <a:ext cx="2834640" cy="3931920"/>
          </a:xfrm>
          <a:prstGeom prst="rect">
            <a:avLst/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777240"/>
            <a:ext cx="283464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914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290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Objective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192024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Build an XAI-based analytical framework using Random Forest + Permutation Importance to identify and explain key risk factors transparently.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777240"/>
            <a:ext cx="2834640" cy="3931920"/>
          </a:xfrm>
          <a:prstGeom prst="rect">
            <a:avLst/>
          </a:prstGeom>
          <a:solidFill>
            <a:srgbClr val="1A2F4A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777240"/>
            <a:ext cx="2834640" cy="7315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914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4652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</a:rPr>
              <a:t>Outcome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1920240"/>
            <a:ext cx="2514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Interpretable insights on how academic pressure, sleep, financial stress, and social support influence student mental health risk.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METHODOLOGY &amp;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536192" cy="3474720"/>
          </a:xfrm>
          <a:prstGeom prst="rect">
            <a:avLst/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22376" y="8686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22376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6002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Data Generation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1488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1,000 synthetic student records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14 features: academic, lifestyle,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psychosocial domains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0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BC4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993392" y="777240"/>
            <a:ext cx="1536192" cy="3474720"/>
          </a:xfrm>
          <a:prstGeom prst="rect">
            <a:avLst/>
          </a:prstGeom>
          <a:solidFill>
            <a:srgbClr val="1A2F4A"/>
          </a:solidFill>
          <a:ln w="19050">
            <a:solidFill>
              <a:srgbClr val="48CA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868680"/>
            <a:ext cx="640080" cy="640080"/>
          </a:xfrm>
          <a:prstGeom prst="ellipse">
            <a:avLst/>
          </a:prstGeom>
          <a:solidFill>
            <a:srgbClr val="48CAE4"/>
          </a:solidFill>
          <a:ln/>
        </p:spPr>
      </p:sp>
      <p:sp>
        <p:nvSpPr>
          <p:cNvPr id="12" name="Text 10"/>
          <p:cNvSpPr/>
          <p:nvPr/>
        </p:nvSpPr>
        <p:spPr>
          <a:xfrm>
            <a:off x="2441448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39112" y="16002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AE4"/>
                </a:solidFill>
              </a:rPr>
              <a:t>EDA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66544" y="21488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Correlation analysis, class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distribution, boxplots,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demographic breakdowns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47872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BC4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12464" y="777240"/>
            <a:ext cx="1536192" cy="3474720"/>
          </a:xfrm>
          <a:prstGeom prst="rect">
            <a:avLst/>
          </a:prstGeom>
          <a:solidFill>
            <a:srgbClr val="1A2F4A"/>
          </a:solidFill>
          <a:ln w="1905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868680"/>
            <a:ext cx="640080" cy="640080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18" name="Text 16"/>
          <p:cNvSpPr/>
          <p:nvPr/>
        </p:nvSpPr>
        <p:spPr>
          <a:xfrm>
            <a:off x="4160520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58184" y="16002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D03F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85616" y="21488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Label encoding for gender,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train-test split (80/20),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stratified sampling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66944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BC4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31536" y="777240"/>
            <a:ext cx="1536192" cy="3474720"/>
          </a:xfrm>
          <a:prstGeom prst="rect">
            <a:avLst/>
          </a:prstGeom>
          <a:solidFill>
            <a:srgbClr val="1A2F4A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879592" y="868680"/>
            <a:ext cx="640080" cy="64008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4" name="Text 22"/>
          <p:cNvSpPr/>
          <p:nvPr/>
        </p:nvSpPr>
        <p:spPr>
          <a:xfrm>
            <a:off x="5879592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77256" y="16002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04688" y="21488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200 trees, balanced classes,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5-fold cross-validation,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ROC-AUC evaluation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86016" y="13716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EABC4"/>
                </a:solidFill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50608" y="777240"/>
            <a:ext cx="1536192" cy="3474720"/>
          </a:xfrm>
          <a:prstGeom prst="rect">
            <a:avLst/>
          </a:prstGeom>
          <a:solidFill>
            <a:srgbClr val="1A2F4A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98664" y="868680"/>
            <a:ext cx="640080" cy="6400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7598664" y="868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96328" y="160020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XAI Analysis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23760" y="2148840"/>
            <a:ext cx="13898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Gini importance, permutation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importance, SHAP-style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contribution analysis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1E3A54"/>
          </a:solidFill>
          <a:ln w="6350">
            <a:solidFill>
              <a:srgbClr val="8EAB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4531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Dataset Features: </a:t>
            </a:r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Academic Pressure · Financial Stress · Exam Anxiety · Sleep Hours · Physical Activity · Loneliness · Social Support · CGPA · Screen Time · Dietary Habits · Counseling Access · Year · Gender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DATASET &amp; EXPLORATORY DATA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965960" cy="914400"/>
          </a:xfrm>
          <a:prstGeom prst="rect">
            <a:avLst/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4D8"/>
                </a:solidFill>
              </a:rPr>
              <a:t>1,000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BC4"/>
                </a:solidFill>
              </a:rPr>
              <a:t>Student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749808"/>
            <a:ext cx="1965960" cy="914400"/>
          </a:xfrm>
          <a:prstGeom prst="rect">
            <a:avLst/>
          </a:prstGeom>
          <a:solidFill>
            <a:srgbClr val="1A2F4A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777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CC71"/>
                </a:solidFill>
              </a:rPr>
              <a:t>14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423160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BC4"/>
                </a:solidFill>
              </a:rPr>
              <a:t>Input Features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1965960" cy="914400"/>
          </a:xfrm>
          <a:prstGeom prst="rect">
            <a:avLst/>
          </a:prstGeom>
          <a:solidFill>
            <a:srgbClr val="1A2F4A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777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</a:rPr>
              <a:t>52%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BC4"/>
                </a:solidFill>
              </a:rPr>
              <a:t>High Risk Cases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749808"/>
            <a:ext cx="1965960" cy="914400"/>
          </a:xfrm>
          <a:prstGeom prst="rect">
            <a:avLst/>
          </a:prstGeom>
          <a:solidFill>
            <a:srgbClr val="1A2F4A"/>
          </a:solidFill>
          <a:ln w="1905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7772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D03F"/>
                </a:solidFill>
              </a:rPr>
              <a:t>48%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12618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BC4"/>
                </a:solidFill>
              </a:rPr>
              <a:t>Low Risk Cases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Top Correlations with Mental Health Risk: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Academic Pressure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2313432"/>
            <a:ext cx="1737360" cy="201168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224028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+0.385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66090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Financial Stress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77440" y="2734056"/>
            <a:ext cx="1554480" cy="201168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297680" y="26609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+0.339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30815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Exam Anxiety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377440" y="3154680"/>
            <a:ext cx="1316736" cy="201168"/>
          </a:xfrm>
          <a:prstGeom prst="rect">
            <a:avLst/>
          </a:prstGeom>
          <a:solidFill>
            <a:srgbClr val="E74C3C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297680" y="30815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</a:rPr>
              <a:t>+0.286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35021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Physical Activity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3575304"/>
            <a:ext cx="1170432" cy="201168"/>
          </a:xfrm>
          <a:prstGeom prst="rect">
            <a:avLst/>
          </a:prstGeom>
          <a:solidFill>
            <a:srgbClr val="2ECC71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502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−0.255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3922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Loneliness Score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0" y="3995928"/>
            <a:ext cx="987552" cy="201168"/>
          </a:xfrm>
          <a:prstGeom prst="rect">
            <a:avLst/>
          </a:prstGeom>
          <a:solidFill>
            <a:srgbClr val="F4D03F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0" y="392277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D03F"/>
                </a:solidFill>
              </a:rPr>
              <a:t>+0.214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343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Social Support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0" y="4416552"/>
            <a:ext cx="713232" cy="201168"/>
          </a:xfrm>
          <a:prstGeom prst="rect">
            <a:avLst/>
          </a:prstGeom>
          <a:solidFill>
            <a:srgbClr val="2ECC71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0" y="434340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</a:rPr>
              <a:t>−0.154</a:t>
            </a:r>
            <a:endParaRPr lang="en-US" sz="10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822960"/>
            <a:ext cx="3840480" cy="4069080"/>
          </a:xfrm>
          <a:prstGeom prst="rect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MODEL PERFORMANCE — RANDOM FOREST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965960" cy="960120"/>
          </a:xfrm>
          <a:prstGeom prst="rect">
            <a:avLst/>
          </a:prstGeom>
          <a:solidFill>
            <a:srgbClr val="1A2F4A"/>
          </a:solidFill>
          <a:ln w="19050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777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CC71"/>
                </a:solidFill>
              </a:rPr>
              <a:t>80.50%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BC4"/>
                </a:solidFill>
              </a:rPr>
              <a:t>Test Accuracy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23160" y="749808"/>
            <a:ext cx="1965960" cy="960120"/>
          </a:xfrm>
          <a:prstGeom prst="rect">
            <a:avLst/>
          </a:prstGeom>
          <a:solidFill>
            <a:srgbClr val="1A2F4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777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0.877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423160" y="1298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BC4"/>
                </a:solidFill>
              </a:rPr>
              <a:t>ROC-AUC Score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749808"/>
            <a:ext cx="1965960" cy="960120"/>
          </a:xfrm>
          <a:prstGeom prst="rect">
            <a:avLst/>
          </a:prstGeom>
          <a:solidFill>
            <a:srgbClr val="1A2F4A"/>
          </a:solidFill>
          <a:ln w="19050">
            <a:solidFill>
              <a:srgbClr val="F4D03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777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D03F"/>
                </a:solidFill>
              </a:rPr>
              <a:t>0.879 ± 0.021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1298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BC4"/>
                </a:solidFill>
              </a:rPr>
              <a:t>CV AUC (5-fold)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720840" y="749808"/>
            <a:ext cx="1965960" cy="960120"/>
          </a:xfrm>
          <a:prstGeom prst="rect">
            <a:avLst/>
          </a:prstGeom>
          <a:solidFill>
            <a:srgbClr val="1A2F4A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777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4C3C"/>
                </a:solidFill>
              </a:rPr>
              <a:t>82%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720840" y="12984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EABC4"/>
                </a:solidFill>
              </a:rPr>
              <a:t>Precision (High Risk)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0"/>
            <a:ext cx="4114800" cy="301752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828800"/>
            <a:ext cx="4206240" cy="301752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XAI — FEATURE IMPORTANCE ANALYSIS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685800"/>
            <a:ext cx="4343400" cy="42062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685800"/>
            <a:ext cx="434340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" y="566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ABC4"/>
                </a:solidFill>
              </a:rPr>
              <a:t>Gini (Tree-Based) Importance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663440" y="56692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ABC4"/>
                </a:solidFill>
              </a:rPr>
              <a:t>Permutation Importance (Model-Agnostic)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XAI — SHAP-STYLE CONTRIBUTION ANALYSIS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13232"/>
            <a:ext cx="530352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731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Key XAI Insights: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760720" y="1188720"/>
            <a:ext cx="3108960" cy="530352"/>
          </a:xfrm>
          <a:prstGeom prst="rect">
            <a:avLst/>
          </a:prstGeom>
          <a:solidFill>
            <a:srgbClr val="1A2F4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06440" y="118872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4C3C"/>
                </a:solidFill>
              </a:rPr>
              <a:t>▲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44768" y="11887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Academic Pressure is the #1 risk amplifier (+0.219 shift)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1792224"/>
            <a:ext cx="3108960" cy="530352"/>
          </a:xfrm>
          <a:prstGeom prst="rect">
            <a:avLst/>
          </a:prstGeom>
          <a:solidFill>
            <a:srgbClr val="1A2F4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06440" y="1792224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74C3C"/>
                </a:solidFill>
              </a:rPr>
              <a:t>▲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144768" y="179222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Financial Stress strongly elevates risk (+0.215)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60720" y="2395728"/>
            <a:ext cx="3108960" cy="530352"/>
          </a:xfrm>
          <a:prstGeom prst="rect">
            <a:avLst/>
          </a:prstGeom>
          <a:solidFill>
            <a:srgbClr val="1A2F4A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6440" y="2395728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D03F"/>
                </a:solidFill>
              </a:rPr>
              <a:t>▲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144768" y="239572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Exam Anxiety pushes risk higher (+0.188)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2999232"/>
            <a:ext cx="3108960" cy="530352"/>
          </a:xfrm>
          <a:prstGeom prst="rect">
            <a:avLst/>
          </a:prstGeom>
          <a:solidFill>
            <a:srgbClr val="1A2F4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2999232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▼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144768" y="299923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Physical Activity significantly reduces risk (−0.214)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760720" y="3602736"/>
            <a:ext cx="3108960" cy="530352"/>
          </a:xfrm>
          <a:prstGeom prst="rect">
            <a:avLst/>
          </a:prstGeom>
          <a:solidFill>
            <a:srgbClr val="1A2F4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3602736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44768" y="360273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Social Support is a key protective factor (−0.106)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760720" y="4206240"/>
            <a:ext cx="3108960" cy="530352"/>
          </a:xfrm>
          <a:prstGeom prst="rect">
            <a:avLst/>
          </a:prstGeom>
          <a:solidFill>
            <a:srgbClr val="1A2F4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4206240"/>
            <a:ext cx="320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CC71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144768" y="42062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Counseling Access helps reduce risk (−0.030)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PARTIAL DEPENDENCE — TOP 5 FEATURES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13232"/>
            <a:ext cx="8595360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79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EABC4"/>
                </a:solidFill>
              </a:rPr>
              <a:t>How does each feature independently affect predicted mental health risk? (All other features held at median)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4663440"/>
            <a:ext cx="2743200" cy="347472"/>
          </a:xfrm>
          <a:prstGeom prst="rect">
            <a:avLst/>
          </a:prstGeom>
          <a:solidFill>
            <a:srgbClr val="1A2F4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20040" y="4663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Academic Pressure: </a:t>
            </a:r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Risk rises sharply as pressure increases from 1→5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4663440"/>
            <a:ext cx="2743200" cy="347472"/>
          </a:xfrm>
          <a:prstGeom prst="rect">
            <a:avLst/>
          </a:prstGeom>
          <a:solidFill>
            <a:srgbClr val="1A2F4A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6120" y="4663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D03F"/>
                </a:solidFill>
              </a:rPr>
              <a:t>Financial Stress: </a:t>
            </a:r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Even moderate stress noticeably increases risk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26480" y="4663440"/>
            <a:ext cx="2743200" cy="347472"/>
          </a:xfrm>
          <a:prstGeom prst="rect">
            <a:avLst/>
          </a:prstGeom>
          <a:solidFill>
            <a:srgbClr val="1A2F4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72200" y="46634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</a:rPr>
              <a:t>Physical Activity: </a:t>
            </a:r>
            <a:pPr indent="0" marL="0">
              <a:buNone/>
            </a:pPr>
            <a:r>
              <a:rPr lang="en-US" sz="900" dirty="0">
                <a:solidFill>
                  <a:srgbClr val="E8F4F8"/>
                </a:solidFill>
              </a:rPr>
              <a:t>More active students show lower risk probabilities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EDA VISUALIZATIONS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13232"/>
            <a:ext cx="4297680" cy="2286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13232"/>
            <a:ext cx="4297680" cy="22860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3063240"/>
            <a:ext cx="8778240" cy="18288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2880" y="621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BC4"/>
                </a:solidFill>
              </a:rPr>
              <a:t>Boxplots by Risk Class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4663440" y="6217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BC4"/>
                </a:solidFill>
              </a:rPr>
              <a:t>Risk by Gender &amp; Year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82880" y="29718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EABC4"/>
                </a:solidFill>
              </a:rPr>
              <a:t>Feature Distributions by Risk Class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CONCLUSIONS &amp; FUTURE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4023360" cy="521208"/>
          </a:xfrm>
          <a:prstGeom prst="rect">
            <a:avLst/>
          </a:prstGeom>
          <a:solidFill>
            <a:srgbClr val="1A2F4A"/>
          </a:solidFill>
          <a:ln w="6350">
            <a:solidFill>
              <a:srgbClr val="1E3A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70432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170432"/>
            <a:ext cx="3493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Academic Pressure is the strongest positive risk factor (Gini: 0.209, Contribution: +0.219)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64792"/>
            <a:ext cx="4023360" cy="521208"/>
          </a:xfrm>
          <a:prstGeom prst="rect">
            <a:avLst/>
          </a:prstGeom>
          <a:solidFill>
            <a:srgbClr val="1A2F4A"/>
          </a:solidFill>
          <a:ln w="6350">
            <a:solidFill>
              <a:srgbClr val="1E3A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64792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1764792"/>
            <a:ext cx="3493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Financial Stress &amp; Exam Anxiety significantly increase mental health risk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4023360" cy="521208"/>
          </a:xfrm>
          <a:prstGeom prst="rect">
            <a:avLst/>
          </a:prstGeom>
          <a:solidFill>
            <a:srgbClr val="1A2F4A"/>
          </a:solidFill>
          <a:ln w="6350">
            <a:solidFill>
              <a:srgbClr val="1E3A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359152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9808" y="2359152"/>
            <a:ext cx="3493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Physical Activity is the strongest protective factor (−0.214 contribution)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953512"/>
            <a:ext cx="4023360" cy="521208"/>
          </a:xfrm>
          <a:prstGeom prst="rect">
            <a:avLst/>
          </a:prstGeom>
          <a:solidFill>
            <a:srgbClr val="1A2F4A"/>
          </a:solidFill>
          <a:ln w="6350">
            <a:solidFill>
              <a:srgbClr val="1E3A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53512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2953512"/>
            <a:ext cx="3493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Social Support acts as a meaningful buffer against mental health deterioration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4023360" cy="521208"/>
          </a:xfrm>
          <a:prstGeom prst="rect">
            <a:avLst/>
          </a:prstGeom>
          <a:solidFill>
            <a:srgbClr val="1A2F4A"/>
          </a:solidFill>
          <a:ln w="6350">
            <a:solidFill>
              <a:srgbClr val="1E3A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547872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3547872"/>
            <a:ext cx="3493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Random Forest achieved 80.5% accuracy and AUC 0.877, validating the approach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142232"/>
            <a:ext cx="4023360" cy="521208"/>
          </a:xfrm>
          <a:prstGeom prst="rect">
            <a:avLst/>
          </a:prstGeom>
          <a:solidFill>
            <a:srgbClr val="1A2F4A"/>
          </a:solidFill>
          <a:ln w="6350">
            <a:solidFill>
              <a:srgbClr val="1E3A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42232"/>
            <a:ext cx="4572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" y="4142232"/>
            <a:ext cx="3493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XAI methods provided transparent, interpretable explanations for each prediction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7315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D03F"/>
                </a:solidFill>
              </a:rPr>
              <a:t>Future Enhancements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1170432"/>
            <a:ext cx="4023360" cy="603504"/>
          </a:xfrm>
          <a:prstGeom prst="rect">
            <a:avLst/>
          </a:prstGeom>
          <a:solidFill>
            <a:srgbClr val="1A2F4A"/>
          </a:solidFill>
          <a:ln w="10160">
            <a:solidFill>
              <a:srgbClr val="F4D03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19472" y="1243584"/>
            <a:ext cx="411480" cy="411480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1243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76672" y="1170432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Integrate full SHAP library for individual student-level explanations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865376"/>
            <a:ext cx="4023360" cy="603504"/>
          </a:xfrm>
          <a:prstGeom prst="rect">
            <a:avLst/>
          </a:prstGeom>
          <a:solidFill>
            <a:srgbClr val="1A2F4A"/>
          </a:solidFill>
          <a:ln w="10160">
            <a:solidFill>
              <a:srgbClr val="F4D03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19472" y="1938528"/>
            <a:ext cx="411480" cy="411480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1938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76672" y="1865376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Deploy as an institution-facing dashboard with real-time monitoring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560320"/>
            <a:ext cx="4023360" cy="603504"/>
          </a:xfrm>
          <a:prstGeom prst="rect">
            <a:avLst/>
          </a:prstGeom>
          <a:solidFill>
            <a:srgbClr val="1A2F4A"/>
          </a:solidFill>
          <a:ln w="10160">
            <a:solidFill>
              <a:srgbClr val="F4D03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9472" y="2633472"/>
            <a:ext cx="411480" cy="411480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34" name="Text 32"/>
          <p:cNvSpPr/>
          <p:nvPr/>
        </p:nvSpPr>
        <p:spPr>
          <a:xfrm>
            <a:off x="4919472" y="2633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03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2560320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Collect real student survey data to validate synthetic findings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255264"/>
            <a:ext cx="4023360" cy="603504"/>
          </a:xfrm>
          <a:prstGeom prst="rect">
            <a:avLst/>
          </a:prstGeom>
          <a:solidFill>
            <a:srgbClr val="1A2F4A"/>
          </a:solidFill>
          <a:ln w="10160">
            <a:solidFill>
              <a:srgbClr val="F4D03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19472" y="3328416"/>
            <a:ext cx="411480" cy="411480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38" name="Text 36"/>
          <p:cNvSpPr/>
          <p:nvPr/>
        </p:nvSpPr>
        <p:spPr>
          <a:xfrm>
            <a:off x="4919472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76672" y="3255264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Add NLP analysis of student journal entries / counseling notes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950208"/>
            <a:ext cx="4023360" cy="603504"/>
          </a:xfrm>
          <a:prstGeom prst="rect">
            <a:avLst/>
          </a:prstGeom>
          <a:solidFill>
            <a:srgbClr val="1A2F4A"/>
          </a:solidFill>
          <a:ln w="10160">
            <a:solidFill>
              <a:srgbClr val="F4D03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19472" y="4023360"/>
            <a:ext cx="411480" cy="411480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42" name="Text 40"/>
          <p:cNvSpPr/>
          <p:nvPr/>
        </p:nvSpPr>
        <p:spPr>
          <a:xfrm>
            <a:off x="4919472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B2D"/>
                </a:solidFill>
              </a:rPr>
              <a:t>05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76672" y="3950208"/>
            <a:ext cx="34015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Explore federated learning to maintain student data privacy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A2F4A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822960"/>
            <a:ext cx="2926080" cy="2926080"/>
          </a:xfrm>
          <a:prstGeom prst="ellipse">
            <a:avLst/>
          </a:prstGeom>
          <a:solidFill>
            <a:srgbClr val="1E3A5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B4D8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4F8"/>
                </a:solidFill>
              </a:rPr>
              <a:t>Explainable AI–Based Analysis of Student Mental Health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solidFill>
            <a:srgbClr val="1A2F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9260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Sunil Rao R  </a:t>
            </a:r>
            <a:pPr algn="ctr" indent="0" marL="0">
              <a:buNone/>
            </a:pPr>
            <a:r>
              <a:rPr lang="en-US" sz="1300" dirty="0">
                <a:solidFill>
                  <a:srgbClr val="8EABC4"/>
                </a:solidFill>
              </a:rPr>
              <a:t>(3592310051)   </a:t>
            </a:r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 |   Kamalesh V  </a:t>
            </a:r>
            <a:pPr algn="ctr" indent="0" marL="0">
              <a:buNone/>
            </a:pPr>
            <a:r>
              <a:rPr lang="en-US" sz="1300" dirty="0">
                <a:solidFill>
                  <a:srgbClr val="8EABC4"/>
                </a:solidFill>
              </a:rPr>
              <a:t>(3592310019)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BC4"/>
                </a:solidFill>
              </a:rPr>
              <a:t>Technologies: Python · scikit-learn · Random Forest · Permutation Importance · Matplotlib · Seaborn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XAI-Based Analysis of Factors Influencing Student Mental Health</dc:title>
  <dc:subject>PptxGenJS Presentation</dc:subject>
  <dc:creator>PptxGenJS</dc:creator>
  <cp:lastModifiedBy>PptxGenJS</cp:lastModifiedBy>
  <cp:revision>1</cp:revision>
  <dcterms:created xsi:type="dcterms:W3CDTF">2026-03-08T16:06:57Z</dcterms:created>
  <dcterms:modified xsi:type="dcterms:W3CDTF">2026-03-08T16:06:57Z</dcterms:modified>
</cp:coreProperties>
</file>